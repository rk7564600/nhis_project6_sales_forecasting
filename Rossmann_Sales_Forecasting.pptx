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46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96313" y="-181155"/>
            <a:ext cx="12951527" cy="7404915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</a:t>
            </a: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 Across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Retail Stores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Machine Learning  ·  Deep Learning  ·  MLOps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E0A9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46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Six-week, store-level sales predictions to support finance-team planning and reduce reliance on manager intuition.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– ROSHAN KUMAR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Need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 store managers currently forecast sales using personal judgement and years of experience — inconsistent and hard to scale across hundreds of stores.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ML product that forecasts daily sales up to six weeks ahead for every store, using promotions, competition, holidays, seasonality and locality as inputs.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3063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Deliverable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56616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modelling pipeline (EDA → ML → Deep Learning → MLOps) plus a web dashboard so finance-team analysts and store managers can self-serve predictions.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1,017,209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 cleaning)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41,088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844,338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7432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Open-store rows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Fields Used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 ·  Sales  ·  Customers  ·  Open  ·  Promo / Promo2  ·  StateHoliday  ·  SchoolHoliday  ·  StoreType  ·  Assortment  ·  CompetitionDistance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54 rows with Open=1 but Sales=0 were identified as anomalies and removed. Store metadata NAs (e.g. missing CompetitionDistance, Promo2Since*) were structural — stores simply not participating — and filled accordingly rather than imputed blindly.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Distribution: Train vs. Test</a:t>
            </a:r>
            <a:endParaRPr lang="en-US" sz="3000" dirty="0"/>
          </a:p>
        </p:txBody>
      </p:sp>
      <p:pic>
        <p:nvPicPr>
          <p:cNvPr id="4" name="Image 0" descr="imgs/cell1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03504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1920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38.2%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494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training days ran a promo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49440" y="3063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39.6%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9494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days ran a promo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429768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/>
          <p:nvPr/>
        </p:nvSpPr>
        <p:spPr>
          <a:xfrm>
            <a:off x="7178040" y="443484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Promo share is nearly identical across train and test (&lt;1.5pt gap). The split is representative, so no re-sampling or class-weighting correction is needed before modelling.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&amp; Seasonal Sales Patterns</a:t>
            </a:r>
            <a:endParaRPr lang="en-US" sz="3000" dirty="0"/>
          </a:p>
        </p:txBody>
      </p:sp>
      <p:pic>
        <p:nvPicPr>
          <p:cNvPr id="4" name="Image 0" descr="imgs/cell1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394960" cy="3337560"/>
          </a:xfrm>
          <a:prstGeom prst="rect">
            <a:avLst/>
          </a:prstGeom>
        </p:spPr>
      </p:pic>
      <p:pic>
        <p:nvPicPr>
          <p:cNvPr id="5" name="Image 1" descr="imgs/cell1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5394960" cy="3337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257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394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rise from 6,954 (normal day) to 8,682 the day before a holiday, 8,809 on the holiday, and stay high at 8,823 the day after — a ~27% sustained lift.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63640" y="5257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492240" y="5394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sales average 8,609 — 31% above the September low (6,547) — confirming a strong Christmas peak with a smaller Easter bump in spring.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Traffic &amp; Promo Effectiveness</a:t>
            </a:r>
            <a:endParaRPr lang="en-US" sz="3000" dirty="0"/>
          </a:p>
        </p:txBody>
      </p:sp>
      <p:pic>
        <p:nvPicPr>
          <p:cNvPr id="4" name="Image 0" descr="imgs/cell20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212080" cy="3246120"/>
          </a:xfrm>
          <a:prstGeom prst="rect">
            <a:avLst/>
          </a:prstGeom>
        </p:spPr>
      </p:pic>
      <p:pic>
        <p:nvPicPr>
          <p:cNvPr id="5" name="Image 1" descr="imgs/cell22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783080"/>
            <a:ext cx="5669280" cy="2331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166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0.824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502920" y="5623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Sales–Customers correlation, but not 1:1 — a basket-size (Sales/Customer) feature adds signal beyond raw footfall.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989320" y="42519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217920" y="4389120"/>
            <a:ext cx="52120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lifts avg sales from 5,930 to 8,229 (+38.8%) and traffic from 697 to 844 (+21.2%). Spend-per-customer also rises (8.51 → 9.74, +14.4%) — promos bring new footfall AND grow basket size.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Store-Level Promo Targeting &amp; Weekly Trading</a:t>
            </a:r>
            <a:endParaRPr lang="en-US" sz="3000" dirty="0"/>
          </a:p>
        </p:txBody>
      </p:sp>
      <p:pic>
        <p:nvPicPr>
          <p:cNvPr id="4" name="Image 0" descr="imgs/cell24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486400" cy="3429000"/>
          </a:xfrm>
          <a:prstGeom prst="rect">
            <a:avLst/>
          </a:prstGeom>
        </p:spPr>
      </p:pic>
      <p:pic>
        <p:nvPicPr>
          <p:cNvPr id="5" name="Image 1" descr="imgs/cell26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5394960" cy="3429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3492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48640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uplift is highly store-specific (Store 198: +144.9%, Store 607: +117.2%) — targeted deployment beats a blanket promo calendar.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263640" y="53492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492240" y="54864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trade 92–99.5% of weekdays/Saturdays but only 2.5% of Sundays. The 10 stores open every day earn 13,249 avg Sunday sales vs. 82 for the rest.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Assortment Type &amp; Competition Distance</a:t>
            </a:r>
            <a:endParaRPr lang="en-US" sz="3000" dirty="0"/>
          </a:p>
        </p:txBody>
      </p:sp>
      <p:pic>
        <p:nvPicPr>
          <p:cNvPr id="4" name="Image 0" descr="imgs/cell30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394960" cy="3337560"/>
          </a:xfrm>
          <a:prstGeom prst="rect">
            <a:avLst/>
          </a:prstGeom>
        </p:spPr>
      </p:pic>
      <p:pic>
        <p:nvPicPr>
          <p:cNvPr id="5" name="Image 1" descr="imgs/cell32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5394960" cy="3337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257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394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'b' (extra) stores average 8,643 in sales — well above 'c' (7,301) and 'a' (6,622). Richer assortments drive materially higher sales.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63640" y="5257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9" name="Text 5"/>
          <p:cNvSpPr/>
          <p:nvPr/>
        </p:nvSpPr>
        <p:spPr>
          <a:xfrm>
            <a:off x="6492240" y="5394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Competition-distance correlation is near zero (r = -0.036); stores &lt;500m from a rival post the HIGHEST sales — a locality/urban-density confound, not a true distance effect.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7627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 / days-after-holiday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9" name="Shape 7"/>
          <p:cNvSpPr/>
          <p:nvPr/>
        </p:nvSpPr>
        <p:spPr>
          <a:xfrm>
            <a:off x="6419088" y="217627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6600" y="20299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&amp; seasonal encoding (December peak)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341071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264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Basket-size (Sales ÷ Customers) feature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9088" y="341071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3264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historical promo-uplift feature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64515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4988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type as a categorical feature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6317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088" y="4645152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449884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/ urban-density proxy (not raw distance)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engineered feature groups, derived directly from the EDA, feed into the Random Forest and LSTM models built in Task 2.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Actual vs. Predicted Sales</a:t>
            </a:r>
            <a:endParaRPr lang="en-US" sz="3000" dirty="0"/>
          </a:p>
        </p:txBody>
      </p:sp>
      <p:pic>
        <p:nvPicPr>
          <p:cNvPr id="4" name="Image 0" descr="imgs/cell2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6675120" cy="3310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7830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856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5236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89720" y="178308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9" name="Text 6"/>
          <p:cNvSpPr/>
          <p:nvPr/>
        </p:nvSpPr>
        <p:spPr>
          <a:xfrm>
            <a:off x="9189720" y="185623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18.93%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8972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52360" y="27432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12" name="Text 9"/>
          <p:cNvSpPr/>
          <p:nvPr/>
        </p:nvSpPr>
        <p:spPr>
          <a:xfrm>
            <a:off x="7452360" y="281635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821.03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52360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89720" y="274320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F4F6FC"/>
          </a:solidFill>
          <a:ln/>
        </p:spPr>
      </p:sp>
      <p:sp>
        <p:nvSpPr>
          <p:cNvPr id="15" name="Text 12"/>
          <p:cNvSpPr/>
          <p:nvPr/>
        </p:nvSpPr>
        <p:spPr>
          <a:xfrm>
            <a:off x="9189720" y="281635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1,272.32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89720" y="3246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52360" y="38862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0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25 engineered features → sklearn Pipeline (scaling + encoding) → RandomForestRegressor, trained on 675,958 rows and validated on 168,380 rows using a chronological split.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5257800"/>
            <a:ext cx="108356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5394960"/>
            <a:ext cx="10378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R² = 0.827 means the model explains ~83% of daily sales variance — a strong first-pass baseline. An approximate 95% prediction interval was also derived from residual spread, giving finance both a point forecast and a confidence band.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DEEP LEARNING &amp; MLOPS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Importance, LSTM &amp; MLflow Tracking</a:t>
            </a:r>
            <a:endParaRPr lang="en-US" sz="3000" dirty="0"/>
          </a:p>
        </p:txBody>
      </p:sp>
      <p:pic>
        <p:nvPicPr>
          <p:cNvPr id="4" name="Image 0" descr="imgs/cell2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4846320" cy="3383280"/>
          </a:xfrm>
          <a:prstGeom prst="rect">
            <a:avLst/>
          </a:prstGeom>
        </p:spPr>
      </p:pic>
      <p:pic>
        <p:nvPicPr>
          <p:cNvPr id="5" name="Image 1" descr="imgs/cell37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737360"/>
            <a:ext cx="6172200" cy="3063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32120" y="489204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5532120" y="4956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1,714.27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532120" y="5303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35240" y="489204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7635240" y="4956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2,236.16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635240" y="5303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738360" y="4892040"/>
            <a:ext cx="196596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9738360" y="49560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738360" y="5303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576072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5897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pred. interval give managers interpretable drivers, not just a number.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32120" y="5806440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18" name="Text 14"/>
          <p:cNvSpPr/>
          <p:nvPr/>
        </p:nvSpPr>
        <p:spPr>
          <a:xfrm>
            <a:off x="5760720" y="5943600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LSTM (store 423, stationary series, ADF p&lt;0.001) underperforms RF — it sees only one store's history vs. RF's full feature set. MLflow Run d684968... logged &amp; verified for inference.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Takeaway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stronger, production-ready model for the 6-week forecast (R² ≈ 0.83 vs. 0.21 for the single-store LSTM), and it is already serialized and MLflow-tracked for deployment.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17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04495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LSTM to multi-store / multivariate inputs, or ensemble it with Random Forest to test for incremental lift.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17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409651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serialized .pkl model into the Task 3 Flask/Streamlit dashboard for store-manager-facing predictions and CSV export.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17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276088"/>
            <a:ext cx="457200" cy="457200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514807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scheduled retraining with DVC-tracked data versions, comparing each new timestamped model against the current MLflow baseline before promotion.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·  Rossmann Pharmaceuticals Sales Forecasting Project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980</Words>
  <Application>Microsoft Office PowerPoint</Application>
  <PresentationFormat>Widescreen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Musab Mirza</cp:lastModifiedBy>
  <cp:revision>3</cp:revision>
  <dcterms:created xsi:type="dcterms:W3CDTF">2026-08-11T15:42:35Z</dcterms:created>
  <dcterms:modified xsi:type="dcterms:W3CDTF">2026-10-20T12:07:44Z</dcterms:modified>
</cp:coreProperties>
</file>